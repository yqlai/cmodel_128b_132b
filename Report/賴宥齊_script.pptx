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72" r:id="rId5"/>
    <p:sldId id="258" r:id="rId6"/>
    <p:sldId id="266" r:id="rId7"/>
    <p:sldId id="259" r:id="rId8"/>
    <p:sldId id="267" r:id="rId9"/>
    <p:sldId id="268" r:id="rId10"/>
    <p:sldId id="269" r:id="rId11"/>
    <p:sldId id="270" r:id="rId12"/>
    <p:sldId id="262" r:id="rId13"/>
    <p:sldId id="261" r:id="rId14"/>
    <p:sldId id="271" r:id="rId15"/>
    <p:sldId id="26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 autoAdjust="0"/>
    <p:restoredTop sz="77326" autoAdjust="0"/>
  </p:normalViewPr>
  <p:slideViewPr>
    <p:cSldViewPr snapToGrid="0">
      <p:cViewPr>
        <p:scale>
          <a:sx n="50" d="100"/>
          <a:sy n="50" d="100"/>
        </p:scale>
        <p:origin x="102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D3534-9708-4AB8-9105-0D23A229F0E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2DF5E-117E-4A73-B01C-5F98E75D95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17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756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這一份</a:t>
            </a:r>
            <a:r>
              <a:rPr lang="en-US" altLang="zh-TW" dirty="0" smtClean="0"/>
              <a:t>script</a:t>
            </a:r>
            <a:r>
              <a:rPr lang="zh-TW" altLang="en-US" dirty="0" smtClean="0"/>
              <a:t>主要是</a:t>
            </a:r>
            <a:r>
              <a:rPr lang="en-US" altLang="zh-TW" dirty="0" smtClean="0"/>
              <a:t>8b/10b</a:t>
            </a:r>
            <a:r>
              <a:rPr lang="zh-TW" altLang="en-US" dirty="0" smtClean="0"/>
              <a:t>的部分。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那</a:t>
            </a:r>
            <a:r>
              <a:rPr lang="en-US" altLang="zh-TW" dirty="0" smtClean="0"/>
              <a:t>input file</a:t>
            </a:r>
            <a:r>
              <a:rPr lang="zh-TW" altLang="en-US" dirty="0" smtClean="0"/>
              <a:t>就是一份</a:t>
            </a:r>
            <a:r>
              <a:rPr lang="en-US" altLang="zh-TW" dirty="0" smtClean="0"/>
              <a:t>TXT</a:t>
            </a:r>
            <a:r>
              <a:rPr lang="zh-TW" altLang="en-US" dirty="0" smtClean="0"/>
              <a:t>，內容大致長這樣。</a:t>
            </a:r>
            <a:endParaRPr lang="en-US" altLang="zh-TW" dirty="0" smtClean="0"/>
          </a:p>
          <a:p>
            <a:r>
              <a:rPr lang="zh-TW" altLang="en-US" dirty="0" smtClean="0"/>
              <a:t>第一行是</a:t>
            </a:r>
            <a:r>
              <a:rPr lang="en-US" altLang="zh-TW" dirty="0" smtClean="0"/>
              <a:t>lane number</a:t>
            </a:r>
            <a:r>
              <a:rPr lang="zh-TW" altLang="en-US" dirty="0" smtClean="0"/>
              <a:t>，後面則是要產生的</a:t>
            </a:r>
            <a:r>
              <a:rPr lang="en-US" altLang="zh-TW" dirty="0" smtClean="0"/>
              <a:t>packet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下面的是執行畫面。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產生的</a:t>
            </a:r>
            <a:r>
              <a:rPr lang="en-US" altLang="zh-TW" dirty="0" smtClean="0"/>
              <a:t>packet</a:t>
            </a:r>
            <a:r>
              <a:rPr lang="zh-TW" altLang="en-US" dirty="0" smtClean="0"/>
              <a:t>會輸出到另外一個資料夾，檔名設定和</a:t>
            </a:r>
            <a:r>
              <a:rPr lang="en-US" altLang="zh-TW" dirty="0" smtClean="0"/>
              <a:t>input file</a:t>
            </a:r>
            <a:r>
              <a:rPr lang="zh-TW" altLang="en-US" dirty="0" smtClean="0"/>
              <a:t>一樣。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2496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aseline="0" dirty="0" smtClean="0"/>
              <a:t>Reserved = 0</a:t>
            </a:r>
            <a:endParaRPr lang="en-US" altLang="zh-TW" dirty="0" smtClean="0"/>
          </a:p>
          <a:p>
            <a:r>
              <a:rPr lang="en-US" altLang="zh-TW" dirty="0" err="1" smtClean="0"/>
              <a:t>SuppID</a:t>
            </a:r>
            <a:r>
              <a:rPr lang="en-US" altLang="zh-TW" dirty="0" smtClean="0"/>
              <a:t> = 0 (well-defined)</a:t>
            </a:r>
            <a:endParaRPr lang="en-US" altLang="zh-TW" baseline="0" dirty="0" smtClean="0"/>
          </a:p>
          <a:p>
            <a:r>
              <a:rPr lang="en-US" altLang="zh-TW" baseline="0" dirty="0" err="1" smtClean="0"/>
              <a:t>HopID</a:t>
            </a:r>
            <a:r>
              <a:rPr lang="en-US" altLang="zh-TW" baseline="0" dirty="0" smtClean="0"/>
              <a:t> = 9 (well-defined)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此外，第一行需要</a:t>
            </a:r>
            <a:r>
              <a:rPr lang="en-US" altLang="zh-TW" dirty="0" smtClean="0"/>
              <a:t>lane number</a:t>
            </a:r>
            <a:r>
              <a:rPr lang="zh-TW" altLang="en-US" dirty="0" smtClean="0"/>
              <a:t>的原因。</a:t>
            </a:r>
            <a:endParaRPr lang="en-US" altLang="zh-TW" dirty="0" smtClean="0"/>
          </a:p>
          <a:p>
            <a:r>
              <a:rPr lang="en-US" altLang="zh-TW" dirty="0" smtClean="0"/>
              <a:t>Explain</a:t>
            </a:r>
            <a:r>
              <a:rPr lang="en-US" altLang="zh-TW" baseline="0" dirty="0" smtClean="0"/>
              <a:t> </a:t>
            </a:r>
            <a:r>
              <a:rPr lang="en-US" altLang="zh-TW" baseline="0" dirty="0" smtClean="0"/>
              <a:t>why lane number needed in MSA and BS.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988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像是這裡的</a:t>
            </a:r>
            <a:r>
              <a:rPr lang="en-US" altLang="zh-TW" dirty="0" smtClean="0"/>
              <a:t>VDP</a:t>
            </a:r>
            <a:r>
              <a:rPr lang="zh-TW" altLang="en-US" dirty="0" smtClean="0"/>
              <a:t>就代表有三個</a:t>
            </a:r>
            <a:r>
              <a:rPr lang="en-US" altLang="zh-TW" dirty="0" smtClean="0"/>
              <a:t>TU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1822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Valid DP Tunneling</a:t>
            </a:r>
          </a:p>
          <a:p>
            <a:r>
              <a:rPr lang="en-US" altLang="zh-TW" dirty="0" smtClean="0"/>
              <a:t>Packet Header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782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Payload</a:t>
            </a:r>
            <a:r>
              <a:rPr lang="zh-TW" altLang="en-US" dirty="0" smtClean="0"/>
              <a:t>照著</a:t>
            </a:r>
            <a:r>
              <a:rPr lang="en-US" altLang="zh-TW" dirty="0" smtClean="0"/>
              <a:t>lane number</a:t>
            </a:r>
            <a:r>
              <a:rPr lang="zh-TW" altLang="en-US" dirty="0" smtClean="0"/>
              <a:t>的設定產生</a:t>
            </a:r>
            <a:endParaRPr lang="en-US" altLang="zh-TW" dirty="0" smtClean="0"/>
          </a:p>
          <a:p>
            <a:r>
              <a:rPr lang="zh-TW" altLang="en-US" smtClean="0"/>
              <a:t>詳細的值在後面會補充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62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015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694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02397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改成一條龍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7285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Padding setting?</a:t>
            </a:r>
            <a:br>
              <a:rPr lang="en-US" altLang="zh-TW" dirty="0" smtClean="0"/>
            </a:br>
            <a:r>
              <a:rPr lang="zh-TW" altLang="en-US" dirty="0" smtClean="0"/>
              <a:t>給一下</a:t>
            </a:r>
            <a:r>
              <a:rPr lang="en-US" altLang="zh-TW" dirty="0" err="1" smtClean="0"/>
              <a:t>enum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F2DF5E-117E-4A73-B01C-5F98E75D958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6560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46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535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171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380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07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66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488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830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63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91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822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285AA-3BCB-47DF-B28E-6560743F28DA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F886E-01FF-4E0C-8124-2FA2982AC6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9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qlai/CMode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github.com/yqlai/CModel/blob/main/format.txt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qlai/CModel/blob/main/format.tx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</a:t>
            </a:r>
            <a:r>
              <a:rPr lang="zh-TW" altLang="en-US" dirty="0" smtClean="0"/>
              <a:t> </a:t>
            </a:r>
            <a:r>
              <a:rPr lang="en-US" altLang="zh-TW" dirty="0" smtClean="0"/>
              <a:t>Model Implementation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SD1 </a:t>
            </a:r>
            <a:r>
              <a:rPr lang="zh-TW" altLang="en-US" dirty="0" smtClean="0"/>
              <a:t>實習生 賴宥齊</a:t>
            </a:r>
            <a:endParaRPr lang="en-US" altLang="zh-TW" dirty="0" smtClean="0"/>
          </a:p>
          <a:p>
            <a:r>
              <a:rPr lang="en-US" altLang="zh-TW" dirty="0" smtClean="0"/>
              <a:t>202408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1353798" y="6488668"/>
            <a:ext cx="838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hlinkClick r:id="rId2"/>
              </a:rPr>
              <a:t>Github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969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Introduction</a:t>
            </a:r>
          </a:p>
          <a:p>
            <a:r>
              <a:rPr lang="en-US" altLang="zh-TW" dirty="0" smtClean="0"/>
              <a:t>Comparison</a:t>
            </a:r>
          </a:p>
          <a:p>
            <a:r>
              <a:rPr lang="en-US" altLang="zh-TW" dirty="0" smtClean="0"/>
              <a:t>Input &amp; Output</a:t>
            </a:r>
          </a:p>
          <a:p>
            <a:r>
              <a:rPr lang="en-US" altLang="zh-TW" dirty="0" smtClean="0"/>
              <a:t>Methods</a:t>
            </a:r>
          </a:p>
          <a:p>
            <a:pPr lvl="1"/>
            <a:r>
              <a:rPr lang="en-US" altLang="zh-TW" dirty="0" smtClean="0"/>
              <a:t>Payload Generation</a:t>
            </a:r>
          </a:p>
          <a:p>
            <a:pPr lvl="1"/>
            <a:r>
              <a:rPr lang="en-US" altLang="zh-TW" dirty="0" smtClean="0"/>
              <a:t>Length Field Recalculate</a:t>
            </a:r>
          </a:p>
          <a:p>
            <a:pPr lvl="1"/>
            <a:r>
              <a:rPr lang="en-US" altLang="zh-TW" dirty="0" smtClean="0"/>
              <a:t>Default Values</a:t>
            </a:r>
          </a:p>
          <a:p>
            <a:r>
              <a:rPr lang="en-US" altLang="zh-TW" dirty="0" smtClean="0"/>
              <a:t>TBD</a:t>
            </a:r>
          </a:p>
          <a:p>
            <a:pPr lvl="1"/>
            <a:r>
              <a:rPr lang="en-US" altLang="zh-TW" dirty="0" smtClean="0"/>
              <a:t>Advise</a:t>
            </a:r>
          </a:p>
          <a:p>
            <a:pPr lvl="1"/>
            <a:r>
              <a:rPr lang="en-US" altLang="zh-TW" dirty="0" smtClean="0"/>
              <a:t>Error Handling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505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13959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 smtClean="0"/>
              <a:t>DPTX -&gt; DPIA</a:t>
            </a:r>
          </a:p>
          <a:p>
            <a:pPr lvl="1"/>
            <a:r>
              <a:rPr lang="en-US" altLang="zh-TW" sz="2000" dirty="0" smtClean="0"/>
              <a:t>Given DP signal as input, program transforms the input DP signal into USB4 Tunneled Packet.</a:t>
            </a:r>
          </a:p>
          <a:p>
            <a:pPr lvl="1"/>
            <a:endParaRPr lang="en-US" altLang="zh-TW" sz="2000" dirty="0" smtClean="0"/>
          </a:p>
          <a:p>
            <a:r>
              <a:rPr lang="en-US" altLang="zh-TW" sz="2400" dirty="0" smtClean="0"/>
              <a:t>Script -&gt; DPIA</a:t>
            </a:r>
          </a:p>
          <a:p>
            <a:pPr lvl="1"/>
            <a:r>
              <a:rPr lang="en-US" altLang="zh-TW" sz="2000" dirty="0" smtClean="0"/>
              <a:t>Program generates the USB4 Tunneled Packet according to the given packet type and value of each fields.</a:t>
            </a:r>
            <a:endParaRPr lang="zh-TW" altLang="en-US" sz="2000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596884"/>
              </p:ext>
            </p:extLst>
          </p:nvPr>
        </p:nvGraphicFramePr>
        <p:xfrm>
          <a:off x="1054551" y="3789628"/>
          <a:ext cx="1008289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780">
                  <a:extLst>
                    <a:ext uri="{9D8B030D-6E8A-4147-A177-3AD203B41FA5}">
                      <a16:colId xmlns:a16="http://schemas.microsoft.com/office/drawing/2014/main" val="2922819089"/>
                    </a:ext>
                  </a:extLst>
                </a:gridCol>
                <a:gridCol w="3397152">
                  <a:extLst>
                    <a:ext uri="{9D8B030D-6E8A-4147-A177-3AD203B41FA5}">
                      <a16:colId xmlns:a16="http://schemas.microsoft.com/office/drawing/2014/main" val="2761760324"/>
                    </a:ext>
                  </a:extLst>
                </a:gridCol>
                <a:gridCol w="3360966">
                  <a:extLst>
                    <a:ext uri="{9D8B030D-6E8A-4147-A177-3AD203B41FA5}">
                      <a16:colId xmlns:a16="http://schemas.microsoft.com/office/drawing/2014/main" val="465586680"/>
                    </a:ext>
                  </a:extLst>
                </a:gridCol>
              </a:tblGrid>
              <a:tr h="214685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DPTX -&gt;</a:t>
                      </a:r>
                      <a:r>
                        <a:rPr lang="en-US" altLang="zh-TW" baseline="0" dirty="0" smtClean="0"/>
                        <a:t> DPIA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Script</a:t>
                      </a:r>
                      <a:r>
                        <a:rPr lang="en-US" altLang="zh-TW" baseline="0" dirty="0" smtClean="0"/>
                        <a:t> -&gt; DPIA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898415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Input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DP 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Self-defined packets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666330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Number</a:t>
                      </a:r>
                      <a:r>
                        <a:rPr lang="en-US" altLang="zh-TW" baseline="0" dirty="0" smtClean="0"/>
                        <a:t> of packets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Acc. DP 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Can be user-defined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132535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Packets order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Acc.</a:t>
                      </a:r>
                      <a:r>
                        <a:rPr lang="en-US" altLang="zh-TW" baseline="0" dirty="0" smtClean="0"/>
                        <a:t> DP 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Can be user-defined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657536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r>
                        <a:rPr lang="en-US" altLang="zh-TW" baseline="0" dirty="0" smtClean="0"/>
                        <a:t> of each fields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Acc. DP signal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Can be user-defined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474253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Coverage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Low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High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739754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Additional input file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No</a:t>
                      </a:r>
                      <a:r>
                        <a:rPr lang="en-US" altLang="zh-TW" baseline="0" dirty="0" smtClean="0"/>
                        <a:t> need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Need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172735"/>
                  </a:ext>
                </a:extLst>
              </a:tr>
              <a:tr h="2146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Output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USB4 Tunneled Packet in txt file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USB4 Tunneled Packet in txt file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749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82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Input: TXT file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008" y="4437999"/>
            <a:ext cx="8351984" cy="165488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443" y="2616151"/>
            <a:ext cx="6363114" cy="1490246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234740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188148" cy="4351338"/>
          </a:xfrm>
        </p:spPr>
        <p:txBody>
          <a:bodyPr/>
          <a:lstStyle/>
          <a:p>
            <a:r>
              <a:rPr lang="en-US" altLang="zh-TW" dirty="0" smtClean="0"/>
              <a:t>Input Format: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MSA</a:t>
            </a:r>
            <a:r>
              <a:rPr lang="en-US" altLang="zh-TW" sz="2000" dirty="0" smtClean="0"/>
              <a:t> &lt;Fill Count</a:t>
            </a:r>
            <a:r>
              <a:rPr lang="en-US" altLang="zh-TW" sz="2000" dirty="0" smtClean="0"/>
              <a:t>&gt;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BSP</a:t>
            </a:r>
            <a:r>
              <a:rPr lang="en-US" altLang="zh-TW" sz="2000" dirty="0" smtClean="0"/>
              <a:t> &lt;SR&gt; &lt;CP&gt; &lt;Fill Count&gt;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VDP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chemeClr val="accent1">
                    <a:lumMod val="75000"/>
                  </a:schemeClr>
                </a:solidFill>
              </a:rPr>
              <a:t>&lt;EOC_1&gt; &lt;TU_type_1&gt; &lt;L_1&gt; &lt;Fill_Count_1&gt; &lt;Video_Count_1&gt; </a:t>
            </a:r>
            <a:r>
              <a:rPr lang="en-US" altLang="zh-TW" sz="2000" dirty="0" smtClean="0"/>
              <a:t>... </a:t>
            </a:r>
            <a:r>
              <a:rPr lang="en-US" altLang="zh-TW" sz="2000" dirty="0" smtClean="0">
                <a:solidFill>
                  <a:schemeClr val="accent2"/>
                </a:solidFill>
              </a:rPr>
              <a:t>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EOC_n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TU_type_n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</a:t>
            </a:r>
            <a:br>
              <a:rPr lang="en-US" altLang="zh-TW" sz="2000" dirty="0" smtClean="0">
                <a:solidFill>
                  <a:schemeClr val="accent2"/>
                </a:solidFill>
              </a:rPr>
            </a:br>
            <a:r>
              <a:rPr lang="en-US" altLang="zh-TW" sz="2000" dirty="0" smtClean="0">
                <a:solidFill>
                  <a:schemeClr val="accent2"/>
                </a:solidFill>
              </a:rPr>
              <a:t>        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L_n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Fill_Count_n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Video_Count_n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SDP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chemeClr val="accent1">
                    <a:lumMod val="75000"/>
                  </a:schemeClr>
                </a:solidFill>
              </a:rPr>
              <a:t>&lt;EFC/ND_1&gt; &lt;NSS_1&gt; &lt;NSE_1&gt; &lt;L_1&gt; &lt;Fill_Count_1&gt; &lt;Secondary_Count_1&gt;</a:t>
            </a:r>
            <a:r>
              <a:rPr lang="en-US" altLang="zh-TW" sz="2000" dirty="0" smtClean="0"/>
              <a:t> ... </a:t>
            </a:r>
            <a:r>
              <a:rPr lang="en-US" altLang="zh-TW" sz="2000" dirty="0" smtClean="0">
                <a:solidFill>
                  <a:schemeClr val="accent2"/>
                </a:solidFill>
              </a:rPr>
              <a:t>&lt;EFC/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ND_n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</a:t>
            </a:r>
            <a:br>
              <a:rPr lang="en-US" altLang="zh-TW" sz="2000" dirty="0" smtClean="0">
                <a:solidFill>
                  <a:schemeClr val="accent2"/>
                </a:solidFill>
              </a:rPr>
            </a:br>
            <a:r>
              <a:rPr lang="en-US" altLang="zh-TW" sz="2000" dirty="0" smtClean="0">
                <a:solidFill>
                  <a:schemeClr val="accent2"/>
                </a:solidFill>
              </a:rPr>
              <a:t>       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NSS_n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NSE_n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L_n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Fill_Count_n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Secondary_Count_n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</a:t>
            </a:r>
            <a:br>
              <a:rPr lang="en-US" altLang="zh-TW" sz="2000" dirty="0" smtClean="0">
                <a:solidFill>
                  <a:schemeClr val="accent2"/>
                </a:solidFill>
              </a:rPr>
            </a:br>
            <a:endParaRPr lang="en-US" altLang="zh-TW" sz="2000" dirty="0" smtClean="0">
              <a:solidFill>
                <a:schemeClr val="accent2"/>
              </a:solidFill>
            </a:endParaRPr>
          </a:p>
          <a:p>
            <a:pPr lvl="1"/>
            <a:r>
              <a:rPr lang="en-US" altLang="zh-TW" sz="2000" dirty="0" smtClean="0"/>
              <a:t>Ignore ‘\n’ and ‘#’</a:t>
            </a:r>
          </a:p>
          <a:p>
            <a:pPr marL="0" indent="0">
              <a:buNone/>
            </a:pPr>
            <a:endParaRPr lang="en-US" altLang="zh-TW" dirty="0" smtClean="0">
              <a:solidFill>
                <a:schemeClr val="accent2"/>
              </a:solidFill>
            </a:endParaRP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0959547" y="6488668"/>
            <a:ext cx="123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hlinkClick r:id="rId3"/>
              </a:rPr>
              <a:t>Format File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158" y="4996207"/>
            <a:ext cx="5994311" cy="1492461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  <p:grpSp>
        <p:nvGrpSpPr>
          <p:cNvPr id="12" name="群組 11"/>
          <p:cNvGrpSpPr/>
          <p:nvPr/>
        </p:nvGrpSpPr>
        <p:grpSpPr>
          <a:xfrm>
            <a:off x="86312" y="1513920"/>
            <a:ext cx="11695472" cy="3750404"/>
            <a:chOff x="-1578544" y="1774722"/>
            <a:chExt cx="11695472" cy="3750404"/>
          </a:xfrm>
        </p:grpSpPr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753" y="2067347"/>
              <a:ext cx="942975" cy="3393653"/>
            </a:xfrm>
            <a:prstGeom prst="rect">
              <a:avLst/>
            </a:prstGeom>
          </p:spPr>
        </p:pic>
        <p:grpSp>
          <p:nvGrpSpPr>
            <p:cNvPr id="10" name="群組 9"/>
            <p:cNvGrpSpPr/>
            <p:nvPr/>
          </p:nvGrpSpPr>
          <p:grpSpPr>
            <a:xfrm>
              <a:off x="-1578544" y="1774722"/>
              <a:ext cx="11695472" cy="3750404"/>
              <a:chOff x="330876" y="1515836"/>
              <a:chExt cx="11695472" cy="3750404"/>
            </a:xfrm>
            <a:solidFill>
              <a:schemeClr val="tx2">
                <a:lumMod val="75000"/>
              </a:schemeClr>
            </a:solidFill>
          </p:grpSpPr>
          <p:pic>
            <p:nvPicPr>
              <p:cNvPr id="6" name="圖片 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0876" y="1515836"/>
                <a:ext cx="7774785" cy="3750404"/>
              </a:xfrm>
              <a:prstGeom prst="rect">
                <a:avLst/>
              </a:prstGeom>
              <a:grpFill/>
            </p:spPr>
          </p:pic>
          <p:pic>
            <p:nvPicPr>
              <p:cNvPr id="9" name="圖片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41668" y="1573910"/>
                <a:ext cx="3784680" cy="3682391"/>
              </a:xfrm>
              <a:prstGeom prst="rect">
                <a:avLst/>
              </a:prstGeom>
              <a:grpFill/>
            </p:spPr>
          </p:pic>
        </p:grpSp>
      </p:grpSp>
      <p:pic>
        <p:nvPicPr>
          <p:cNvPr id="8" name="圖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5530" y="235790"/>
            <a:ext cx="4042671" cy="625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1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1188148" cy="4351338"/>
          </a:xfrm>
        </p:spPr>
        <p:txBody>
          <a:bodyPr/>
          <a:lstStyle/>
          <a:p>
            <a:r>
              <a:rPr lang="en-US" altLang="zh-TW" dirty="0" smtClean="0"/>
              <a:t>Input Format: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MSA</a:t>
            </a:r>
            <a:r>
              <a:rPr lang="en-US" altLang="zh-TW" sz="2000" dirty="0" smtClean="0"/>
              <a:t> &lt;Fill Count&gt;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BSP</a:t>
            </a:r>
            <a:r>
              <a:rPr lang="en-US" altLang="zh-TW" sz="2000" dirty="0" smtClean="0"/>
              <a:t> &lt;SR&gt; &lt;CP&gt; &lt;Fill Count</a:t>
            </a:r>
            <a:r>
              <a:rPr lang="en-US" altLang="zh-TW" sz="2000" dirty="0"/>
              <a:t>&gt;</a:t>
            </a:r>
            <a:endParaRPr lang="en-US" altLang="zh-TW" sz="2000" dirty="0" smtClean="0"/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VDP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chemeClr val="accent1">
                    <a:lumMod val="75000"/>
                  </a:schemeClr>
                </a:solidFill>
              </a:rPr>
              <a:t>&lt;EOC_1&gt; &lt;TU_type_1&gt; &lt;L_1&gt; &lt;Fill_Count_1&gt; &lt;Video_Count_1&gt; </a:t>
            </a:r>
            <a:r>
              <a:rPr lang="en-US" altLang="zh-TW" sz="2000" dirty="0" smtClean="0"/>
              <a:t>... </a:t>
            </a:r>
            <a:r>
              <a:rPr lang="en-US" altLang="zh-TW" sz="2000" dirty="0" smtClean="0">
                <a:solidFill>
                  <a:schemeClr val="accent2"/>
                </a:solidFill>
              </a:rPr>
              <a:t>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EOC_n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TU_type_n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</a:t>
            </a:r>
            <a:br>
              <a:rPr lang="en-US" altLang="zh-TW" sz="2000" dirty="0" smtClean="0">
                <a:solidFill>
                  <a:schemeClr val="accent2"/>
                </a:solidFill>
              </a:rPr>
            </a:br>
            <a:r>
              <a:rPr lang="en-US" altLang="zh-TW" sz="2000" dirty="0" smtClean="0">
                <a:solidFill>
                  <a:schemeClr val="accent2"/>
                </a:solidFill>
              </a:rPr>
              <a:t>        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L_n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Fill_Count_n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Video_Count_n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</a:t>
            </a:r>
          </a:p>
          <a:p>
            <a:pPr lvl="1"/>
            <a:r>
              <a:rPr lang="en-US" altLang="zh-TW" sz="2000" dirty="0" smtClean="0">
                <a:solidFill>
                  <a:srgbClr val="FF0000"/>
                </a:solidFill>
              </a:rPr>
              <a:t>SDP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chemeClr val="accent1">
                    <a:lumMod val="75000"/>
                  </a:schemeClr>
                </a:solidFill>
              </a:rPr>
              <a:t>&lt;EFC/ND_1&gt; &lt;NSS_1&gt; &lt;NSE_1&gt; &lt;L_1&gt; &lt;Fill_Count_1&gt; &lt;Secondary_Count_1&gt;</a:t>
            </a:r>
            <a:r>
              <a:rPr lang="en-US" altLang="zh-TW" sz="2000" dirty="0" smtClean="0"/>
              <a:t> ... </a:t>
            </a:r>
            <a:r>
              <a:rPr lang="en-US" altLang="zh-TW" sz="2000" dirty="0" smtClean="0">
                <a:solidFill>
                  <a:schemeClr val="accent2"/>
                </a:solidFill>
              </a:rPr>
              <a:t>&lt;EFC/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ND_n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</a:t>
            </a:r>
            <a:br>
              <a:rPr lang="en-US" altLang="zh-TW" sz="2000" dirty="0" smtClean="0">
                <a:solidFill>
                  <a:schemeClr val="accent2"/>
                </a:solidFill>
              </a:rPr>
            </a:br>
            <a:r>
              <a:rPr lang="en-US" altLang="zh-TW" sz="2000" dirty="0" smtClean="0">
                <a:solidFill>
                  <a:schemeClr val="accent2"/>
                </a:solidFill>
              </a:rPr>
              <a:t>       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NSS_n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NSE_n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L_n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Fill_Count_n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 &lt;</a:t>
            </a:r>
            <a:r>
              <a:rPr lang="en-US" altLang="zh-TW" sz="2000" dirty="0" err="1" smtClean="0">
                <a:solidFill>
                  <a:schemeClr val="accent2"/>
                </a:solidFill>
              </a:rPr>
              <a:t>Secondary_Count_n</a:t>
            </a:r>
            <a:r>
              <a:rPr lang="en-US" altLang="zh-TW" sz="2000" dirty="0" smtClean="0">
                <a:solidFill>
                  <a:schemeClr val="accent2"/>
                </a:solidFill>
              </a:rPr>
              <a:t>&gt;</a:t>
            </a:r>
            <a:br>
              <a:rPr lang="en-US" altLang="zh-TW" sz="2000" dirty="0" smtClean="0">
                <a:solidFill>
                  <a:schemeClr val="accent2"/>
                </a:solidFill>
              </a:rPr>
            </a:br>
            <a:endParaRPr lang="en-US" altLang="zh-TW" sz="2000" dirty="0" smtClean="0">
              <a:solidFill>
                <a:schemeClr val="accent2"/>
              </a:solidFill>
            </a:endParaRPr>
          </a:p>
          <a:p>
            <a:pPr lvl="1"/>
            <a:r>
              <a:rPr lang="en-US" altLang="zh-TW" sz="2000" dirty="0" smtClean="0"/>
              <a:t>Ignore ‘\n’ and </a:t>
            </a:r>
            <a:r>
              <a:rPr lang="en-US" altLang="zh-TW" sz="2000" dirty="0" smtClean="0"/>
              <a:t>‘#’</a:t>
            </a:r>
            <a:r>
              <a:rPr lang="zh-TW" altLang="en-US" sz="2000" dirty="0" smtClean="0"/>
              <a:t> </a:t>
            </a:r>
            <a:r>
              <a:rPr lang="en-US" altLang="zh-TW" sz="2000" dirty="0" smtClean="0"/>
              <a:t>and ‘//’</a:t>
            </a:r>
            <a:endParaRPr lang="en-US" altLang="zh-TW" sz="2000" dirty="0" smtClean="0"/>
          </a:p>
          <a:p>
            <a:pPr marL="0" indent="0">
              <a:buNone/>
            </a:pPr>
            <a:endParaRPr lang="en-US" altLang="zh-TW" dirty="0" smtClean="0">
              <a:solidFill>
                <a:schemeClr val="accent2"/>
              </a:solidFill>
            </a:endParaRP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0959547" y="6488668"/>
            <a:ext cx="123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hlinkClick r:id="rId3"/>
              </a:rPr>
              <a:t>Format File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044" y="5108815"/>
            <a:ext cx="6494758" cy="1236525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  <p:sp>
        <p:nvSpPr>
          <p:cNvPr id="5" name="矩形 4"/>
          <p:cNvSpPr/>
          <p:nvPr/>
        </p:nvSpPr>
        <p:spPr>
          <a:xfrm>
            <a:off x="3005667" y="5715000"/>
            <a:ext cx="1955800" cy="254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033433" y="5715000"/>
            <a:ext cx="1955800" cy="254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061198" y="5715000"/>
            <a:ext cx="1778001" cy="2540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199" y="1825625"/>
            <a:ext cx="5502965" cy="4351338"/>
          </a:xfrm>
        </p:spPr>
        <p:txBody>
          <a:bodyPr/>
          <a:lstStyle/>
          <a:p>
            <a:r>
              <a:rPr lang="en-US" altLang="zh-TW" dirty="0" smtClean="0"/>
              <a:t>Output </a:t>
            </a:r>
            <a:r>
              <a:rPr lang="en-US" altLang="zh-TW" dirty="0"/>
              <a:t>Format:</a:t>
            </a:r>
          </a:p>
          <a:p>
            <a:pPr lvl="1"/>
            <a:r>
              <a:rPr lang="en-US" altLang="zh-TW" sz="2000" dirty="0"/>
              <a:t>&lt;Valid&gt; &lt;Header&gt; &lt;B0&gt; &lt;B1&gt; &lt;B2&gt; &lt;B3&gt;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/>
          <a:srcRect b="45565"/>
          <a:stretch/>
        </p:blipFill>
        <p:spPr>
          <a:xfrm>
            <a:off x="7460236" y="1444846"/>
            <a:ext cx="2922106" cy="4977430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309773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 &amp; Output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356" y="1260500"/>
            <a:ext cx="1216343" cy="548158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25315" y="1278608"/>
            <a:ext cx="1159662" cy="9647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42" y="1278608"/>
            <a:ext cx="3642210" cy="3169475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5"/>
          <a:srcRect r="82761" b="69477"/>
          <a:stretch/>
        </p:blipFill>
        <p:spPr>
          <a:xfrm>
            <a:off x="6793547" y="5254934"/>
            <a:ext cx="939165" cy="414029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9329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 &amp; Output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356" y="1260500"/>
            <a:ext cx="1216343" cy="548158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25315" y="2264300"/>
            <a:ext cx="1159662" cy="4271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4"/>
          <a:srcRect l="1" t="27106" r="74263" b="47402"/>
          <a:stretch/>
        </p:blipFill>
        <p:spPr>
          <a:xfrm>
            <a:off x="6532253" y="5161283"/>
            <a:ext cx="1402072" cy="345755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481" y="2835276"/>
            <a:ext cx="3228975" cy="1285875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81915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 &amp; Output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356" y="1260500"/>
            <a:ext cx="1216343" cy="548158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25315" y="2712457"/>
            <a:ext cx="1159662" cy="26782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4"/>
          <a:srcRect t="50327" r="13683" b="23457"/>
          <a:stretch/>
        </p:blipFill>
        <p:spPr>
          <a:xfrm>
            <a:off x="7425290" y="4453601"/>
            <a:ext cx="4702391" cy="355600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101" y="112370"/>
            <a:ext cx="2780773" cy="6629717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307330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Input &amp; Output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356" y="1260500"/>
            <a:ext cx="1216343" cy="548158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525315" y="5401987"/>
            <a:ext cx="1159662" cy="13188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4"/>
          <a:srcRect t="78789" r="59934" b="1"/>
          <a:stretch/>
        </p:blipFill>
        <p:spPr>
          <a:xfrm>
            <a:off x="6481019" y="6033119"/>
            <a:ext cx="2182711" cy="287687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281796"/>
            <a:ext cx="2952750" cy="3638550"/>
          </a:xfrm>
          <a:prstGeom prst="rect">
            <a:avLst/>
          </a:prstGeom>
          <a:effectLst>
            <a:glow rad="63500">
              <a:srgbClr val="FF000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45799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Flow Chart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882" y="1465063"/>
            <a:ext cx="7462501" cy="522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1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Payload Generation</a:t>
            </a:r>
          </a:p>
          <a:p>
            <a:pPr lvl="1"/>
            <a:r>
              <a:rPr lang="en-US" altLang="zh-TW" dirty="0" smtClean="0"/>
              <a:t>(MSA &amp; BS)  Payload is generated according to the give number of lanes.</a:t>
            </a:r>
          </a:p>
          <a:p>
            <a:pPr lvl="1"/>
            <a:r>
              <a:rPr lang="en-US" altLang="zh-TW" dirty="0" smtClean="0"/>
              <a:t>(VD &amp; SD)     Payload is generated sequentially starting from 00 except the padding bytes which are 0.</a:t>
            </a:r>
          </a:p>
          <a:p>
            <a:pPr lvl="1"/>
            <a:endParaRPr lang="en-US" altLang="zh-TW" dirty="0"/>
          </a:p>
          <a:p>
            <a:r>
              <a:rPr lang="en-US" altLang="zh-TW" dirty="0" smtClean="0"/>
              <a:t>Length Field Recalculate (VDP &amp; SDP)</a:t>
            </a:r>
          </a:p>
          <a:p>
            <a:pPr lvl="1"/>
            <a:r>
              <a:rPr lang="en-US" altLang="zh-TW" dirty="0" smtClean="0"/>
              <a:t>After generating payload of TU sets, recalculate the </a:t>
            </a:r>
            <a:r>
              <a:rPr lang="en-US" altLang="zh-TW" dirty="0"/>
              <a:t>L</a:t>
            </a:r>
            <a:r>
              <a:rPr lang="en-US" altLang="zh-TW" dirty="0" smtClean="0"/>
              <a:t>ength field and HEC.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Default Values</a:t>
            </a:r>
          </a:p>
          <a:p>
            <a:pPr lvl="1"/>
            <a:r>
              <a:rPr lang="en-US" altLang="zh-TW" dirty="0" err="1" smtClean="0"/>
              <a:t>HopID</a:t>
            </a:r>
            <a:r>
              <a:rPr lang="en-US" altLang="zh-TW" dirty="0" smtClean="0"/>
              <a:t> = 9, Reserved = </a:t>
            </a:r>
            <a:r>
              <a:rPr lang="en-US" altLang="zh-TW" dirty="0" err="1" smtClean="0"/>
              <a:t>SuppID</a:t>
            </a:r>
            <a:r>
              <a:rPr lang="en-US" altLang="zh-TW" dirty="0" smtClean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03448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061237"/>
              </p:ext>
            </p:extLst>
          </p:nvPr>
        </p:nvGraphicFramePr>
        <p:xfrm>
          <a:off x="1376017" y="1571418"/>
          <a:ext cx="9439965" cy="48209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87993">
                  <a:extLst>
                    <a:ext uri="{9D8B030D-6E8A-4147-A177-3AD203B41FA5}">
                      <a16:colId xmlns:a16="http://schemas.microsoft.com/office/drawing/2014/main" val="3211366129"/>
                    </a:ext>
                  </a:extLst>
                </a:gridCol>
                <a:gridCol w="1887993">
                  <a:extLst>
                    <a:ext uri="{9D8B030D-6E8A-4147-A177-3AD203B41FA5}">
                      <a16:colId xmlns:a16="http://schemas.microsoft.com/office/drawing/2014/main" val="2201486051"/>
                    </a:ext>
                  </a:extLst>
                </a:gridCol>
                <a:gridCol w="1887993">
                  <a:extLst>
                    <a:ext uri="{9D8B030D-6E8A-4147-A177-3AD203B41FA5}">
                      <a16:colId xmlns:a16="http://schemas.microsoft.com/office/drawing/2014/main" val="3402295868"/>
                    </a:ext>
                  </a:extLst>
                </a:gridCol>
                <a:gridCol w="1887993">
                  <a:extLst>
                    <a:ext uri="{9D8B030D-6E8A-4147-A177-3AD203B41FA5}">
                      <a16:colId xmlns:a16="http://schemas.microsoft.com/office/drawing/2014/main" val="1652793189"/>
                    </a:ext>
                  </a:extLst>
                </a:gridCol>
                <a:gridCol w="1887993">
                  <a:extLst>
                    <a:ext uri="{9D8B030D-6E8A-4147-A177-3AD203B41FA5}">
                      <a16:colId xmlns:a16="http://schemas.microsoft.com/office/drawing/2014/main" val="718150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Enum</a:t>
                      </a:r>
                      <a:r>
                        <a:rPr lang="en-US" altLang="zh-TW" baseline="0" dirty="0" smtClean="0"/>
                        <a:t> Values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469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ZERO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VBID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MVID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23:16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MVID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MVID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 (MVID)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4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38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MAUD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23:16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MAUD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MAUD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NVID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23:16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NVID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907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56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NVID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HTOTAL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HTOTAL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HSTART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HSTART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69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247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HWIDTH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HWIDTH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VTOTAL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VTOTAL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VSTART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134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389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VSTART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VHEIGHT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15:8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VHEIGHT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MISC0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MISC1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7:0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75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60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HSP,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HSW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14:8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HSW 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VSP, VSW</a:t>
                      </a:r>
                      <a:r>
                        <a:rPr lang="en-US" altLang="zh-TW" baseline="0" dirty="0" smtClean="0"/>
                        <a:t> 14:8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VSW 7:0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272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602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808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TBD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939670" cy="435133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Advise</a:t>
            </a:r>
          </a:p>
          <a:p>
            <a:pPr lvl="1"/>
            <a:r>
              <a:rPr lang="en-US" altLang="zh-TW" dirty="0" smtClean="0"/>
              <a:t>Require any modifications to the input format?</a:t>
            </a:r>
          </a:p>
          <a:p>
            <a:pPr lvl="1"/>
            <a:r>
              <a:rPr lang="en-US" altLang="zh-TW" dirty="0" smtClean="0"/>
              <a:t>Are there any other methods for generating payload needed.</a:t>
            </a:r>
            <a:br>
              <a:rPr lang="en-US" altLang="zh-TW" dirty="0" smtClean="0"/>
            </a:br>
            <a:endParaRPr lang="en-US" altLang="zh-TW" dirty="0" smtClean="0"/>
          </a:p>
          <a:p>
            <a:r>
              <a:rPr lang="en-US" altLang="zh-TW" dirty="0" smtClean="0"/>
              <a:t>Error Handling</a:t>
            </a:r>
          </a:p>
          <a:p>
            <a:pPr lvl="1"/>
            <a:r>
              <a:rPr lang="en-US" altLang="zh-TW" dirty="0" smtClean="0"/>
              <a:t>How should the program handle input that does not match the expected format?</a:t>
            </a:r>
            <a:br>
              <a:rPr lang="en-US" altLang="zh-TW" dirty="0" smtClean="0"/>
            </a:br>
            <a:r>
              <a:rPr lang="en-US" altLang="zh-TW" dirty="0" smtClean="0"/>
              <a:t>(e.g. Missing argument) </a:t>
            </a:r>
          </a:p>
          <a:p>
            <a:pPr lvl="1"/>
            <a:r>
              <a:rPr lang="en-US" altLang="zh-TW" dirty="0" smtClean="0"/>
              <a:t>Should there be a check to ensure that the sum of Video/Secondary Count fields does not exceed 256?</a:t>
            </a:r>
          </a:p>
          <a:p>
            <a:pPr lvl="1"/>
            <a:r>
              <a:rPr lang="en-US" altLang="zh-TW" dirty="0" smtClean="0"/>
              <a:t>Is there a need to set limits for specific input fields?</a:t>
            </a:r>
          </a:p>
        </p:txBody>
      </p:sp>
    </p:spTree>
    <p:extLst>
      <p:ext uri="{BB962C8B-B14F-4D97-AF65-F5344CB8AC3E}">
        <p14:creationId xmlns:p14="http://schemas.microsoft.com/office/powerpoint/2010/main" val="347035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769</Words>
  <Application>Microsoft Office PowerPoint</Application>
  <PresentationFormat>寬螢幕</PresentationFormat>
  <Paragraphs>180</Paragraphs>
  <Slides>15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Office 佈景主題</vt:lpstr>
      <vt:lpstr>C Model Implementation</vt:lpstr>
      <vt:lpstr>Outline</vt:lpstr>
      <vt:lpstr>Introduction</vt:lpstr>
      <vt:lpstr>Input</vt:lpstr>
      <vt:lpstr>Input</vt:lpstr>
      <vt:lpstr>Input</vt:lpstr>
      <vt:lpstr>Output</vt:lpstr>
      <vt:lpstr>Input &amp; Output</vt:lpstr>
      <vt:lpstr>Input &amp; Output</vt:lpstr>
      <vt:lpstr>Input &amp; Output</vt:lpstr>
      <vt:lpstr>Input &amp; Output</vt:lpstr>
      <vt:lpstr>Method</vt:lpstr>
      <vt:lpstr>Method</vt:lpstr>
      <vt:lpstr>Method</vt:lpstr>
      <vt:lpstr>TBD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Model Implementation</dc:title>
  <dc:creator>Jeffery Lai</dc:creator>
  <cp:lastModifiedBy>Jeffery Lai</cp:lastModifiedBy>
  <cp:revision>59</cp:revision>
  <dcterms:created xsi:type="dcterms:W3CDTF">2024-08-01T07:59:48Z</dcterms:created>
  <dcterms:modified xsi:type="dcterms:W3CDTF">2024-08-07T06:52:27Z</dcterms:modified>
</cp:coreProperties>
</file>