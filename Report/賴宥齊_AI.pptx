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1" r:id="rId4"/>
    <p:sldId id="265" r:id="rId5"/>
    <p:sldId id="266" r:id="rId6"/>
    <p:sldId id="260" r:id="rId7"/>
    <p:sldId id="272" r:id="rId8"/>
    <p:sldId id="280" r:id="rId9"/>
    <p:sldId id="262" r:id="rId10"/>
    <p:sldId id="267" r:id="rId11"/>
    <p:sldId id="263" r:id="rId12"/>
    <p:sldId id="275" r:id="rId13"/>
    <p:sldId id="276" r:id="rId14"/>
    <p:sldId id="274" r:id="rId15"/>
    <p:sldId id="277" r:id="rId16"/>
    <p:sldId id="278" r:id="rId17"/>
    <p:sldId id="279" r:id="rId18"/>
    <p:sldId id="269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4" autoAdjust="0"/>
    <p:restoredTop sz="94660"/>
  </p:normalViewPr>
  <p:slideViewPr>
    <p:cSldViewPr snapToGrid="0">
      <p:cViewPr varScale="1">
        <p:scale>
          <a:sx n="64" d="100"/>
          <a:sy n="64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-5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FF20B-339F-49B6-A82F-6C7A2D8D42C4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37B0C-1E0C-40F9-BAC5-8B9E03E21C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7371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記得解釋一些</a:t>
            </a:r>
            <a:r>
              <a:rPr lang="en-US" altLang="zh-TW" dirty="0" smtClean="0"/>
              <a:t>terms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37B0C-1E0C-40F9-BAC5-8B9E03E21CF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4230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解釋為何不自己</a:t>
            </a:r>
            <a:r>
              <a:rPr lang="en-US" altLang="zh-TW" dirty="0" smtClean="0"/>
              <a:t>train</a:t>
            </a:r>
            <a:r>
              <a:rPr lang="zh-TW" altLang="en-US" dirty="0" smtClean="0"/>
              <a:t>一個以</a:t>
            </a:r>
            <a:r>
              <a:rPr lang="en-US" altLang="zh-TW" dirty="0" smtClean="0"/>
              <a:t>LM</a:t>
            </a:r>
            <a:r>
              <a:rPr lang="zh-TW" altLang="en-US" dirty="0" smtClean="0"/>
              <a:t>為</a:t>
            </a:r>
            <a:r>
              <a:rPr lang="en-US" altLang="zh-TW" dirty="0" smtClean="0"/>
              <a:t>backbone</a:t>
            </a:r>
            <a:r>
              <a:rPr lang="zh-TW" altLang="en-US" dirty="0" smtClean="0"/>
              <a:t>的大模型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37B0C-1E0C-40F9-BAC5-8B9E03E21CF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441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圖可能有點小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37B0C-1E0C-40F9-BAC5-8B9E03E21CF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939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記得舉例。比如說</a:t>
            </a:r>
            <a:r>
              <a:rPr lang="en-US" altLang="zh-TW" dirty="0" smtClean="0"/>
              <a:t>SST</a:t>
            </a:r>
            <a:r>
              <a:rPr lang="zh-TW" altLang="en-US" dirty="0" smtClean="0"/>
              <a:t>就還要加上</a:t>
            </a:r>
            <a:r>
              <a:rPr lang="en-US" altLang="zh-TW" dirty="0" smtClean="0"/>
              <a:t>HEC</a:t>
            </a:r>
            <a:r>
              <a:rPr lang="zh-TW" altLang="en-US" dirty="0" smtClean="0"/>
              <a:t>以及</a:t>
            </a:r>
            <a:r>
              <a:rPr lang="en-US" altLang="zh-TW" dirty="0" smtClean="0"/>
              <a:t>ECC</a:t>
            </a:r>
            <a:r>
              <a:rPr lang="zh-TW" altLang="en-US" dirty="0" smtClean="0"/>
              <a:t>的部分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不過有些資訊分布在各個地方，比如說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HopID</a:t>
            </a:r>
            <a:r>
              <a:rPr lang="zh-TW" altLang="en-US" dirty="0" smtClean="0"/>
              <a:t>或是</a:t>
            </a:r>
            <a:r>
              <a:rPr lang="en-US" altLang="zh-TW" dirty="0" err="1" smtClean="0"/>
              <a:t>SuppID</a:t>
            </a:r>
            <a:r>
              <a:rPr lang="zh-TW" altLang="en-US" dirty="0" smtClean="0"/>
              <a:t>的值在</a:t>
            </a:r>
            <a:r>
              <a:rPr lang="en-US" altLang="zh-TW" dirty="0" smtClean="0"/>
              <a:t>Tunneled Packet</a:t>
            </a:r>
            <a:r>
              <a:rPr lang="zh-TW" altLang="en-US" smtClean="0"/>
              <a:t>的定義。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37B0C-1E0C-40F9-BAC5-8B9E03E21CF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237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Individual info</a:t>
            </a:r>
            <a:r>
              <a:rPr lang="zh-TW" altLang="en-US" dirty="0" smtClean="0"/>
              <a:t>是因為沒有提示他很容易找錯東西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37B0C-1E0C-40F9-BAC5-8B9E03E21CFB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3115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Header Generator</a:t>
            </a:r>
            <a:r>
              <a:rPr lang="en-US" altLang="zh-TW" baseline="0" dirty="0" smtClean="0"/>
              <a:t> - MSA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37B0C-1E0C-40F9-BAC5-8B9E03E21CFB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357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Header Generator - SD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37B0C-1E0C-40F9-BAC5-8B9E03E21CFB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395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Payload Generator - BS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37B0C-1E0C-40F9-BAC5-8B9E03E21CFB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568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Payload Generator - VD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37B0C-1E0C-40F9-BAC5-8B9E03E21CFB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281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小結論：與其給更多資訊，不如直接用已經產生出來的</a:t>
            </a:r>
            <a:r>
              <a:rPr lang="en-US" altLang="zh-TW" dirty="0" smtClean="0"/>
              <a:t>code</a:t>
            </a:r>
            <a:r>
              <a:rPr lang="zh-TW" altLang="en-US" dirty="0" smtClean="0"/>
              <a:t>去改，可以比較有效率。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037B0C-1E0C-40F9-BAC5-8B9E03E21CFB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370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88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86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711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217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8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737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34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747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0300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68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373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B2C60-0FFC-4B58-834B-641C9969076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7CEBC-3654-41A7-A998-0781E7ACFA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39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AI Model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SD1 </a:t>
            </a:r>
            <a:r>
              <a:rPr lang="zh-TW" altLang="en-US" dirty="0" smtClean="0"/>
              <a:t>實習生 賴宥齊</a:t>
            </a:r>
            <a:endParaRPr lang="en-US" altLang="zh-TW" dirty="0" smtClean="0"/>
          </a:p>
          <a:p>
            <a:r>
              <a:rPr lang="en-US" altLang="zh-TW" dirty="0" smtClean="0"/>
              <a:t>202408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598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Language Models</a:t>
            </a:r>
          </a:p>
          <a:p>
            <a:r>
              <a:rPr lang="en-US" altLang="zh-TW" dirty="0" smtClean="0"/>
              <a:t>PDF Parsing</a:t>
            </a:r>
          </a:p>
          <a:p>
            <a:r>
              <a:rPr lang="en-US" altLang="zh-TW" dirty="0" smtClean="0"/>
              <a:t>Methods</a:t>
            </a:r>
          </a:p>
          <a:p>
            <a:pPr lvl="1"/>
            <a:r>
              <a:rPr lang="en-US" altLang="zh-TW" dirty="0" smtClean="0"/>
              <a:t>End-to-end</a:t>
            </a:r>
          </a:p>
          <a:p>
            <a:pPr lvl="1"/>
            <a:r>
              <a:rPr lang="en-US" altLang="zh-TW" dirty="0" smtClean="0"/>
              <a:t>Staged (Currently used)</a:t>
            </a:r>
          </a:p>
          <a:p>
            <a:r>
              <a:rPr lang="en-US" altLang="zh-TW" dirty="0" smtClean="0"/>
              <a:t>Tools</a:t>
            </a:r>
          </a:p>
          <a:p>
            <a:r>
              <a:rPr lang="en-US" altLang="zh-TW" dirty="0" smtClean="0"/>
              <a:t>Problems</a:t>
            </a:r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97774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Language Models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83" y="1840303"/>
            <a:ext cx="8194034" cy="4438994"/>
          </a:xfrm>
        </p:spPr>
      </p:pic>
    </p:spTree>
    <p:extLst>
      <p:ext uri="{BB962C8B-B14F-4D97-AF65-F5344CB8AC3E}">
        <p14:creationId xmlns:p14="http://schemas.microsoft.com/office/powerpoint/2010/main" val="18200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Language Models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2941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Directly Use the Well-Trained Language Model</a:t>
            </a:r>
          </a:p>
          <a:p>
            <a:pPr lvl="1"/>
            <a:r>
              <a:rPr lang="en-US" altLang="zh-TW" dirty="0" smtClean="0"/>
              <a:t>Feed PDF and query as input.</a:t>
            </a:r>
          </a:p>
          <a:p>
            <a:pPr lvl="1"/>
            <a:r>
              <a:rPr lang="en-US" altLang="zh-TW" dirty="0" smtClean="0"/>
              <a:t>No additional training required.</a:t>
            </a:r>
          </a:p>
          <a:p>
            <a:pPr lvl="1"/>
            <a:r>
              <a:rPr lang="en-US" altLang="zh-TW" dirty="0" smtClean="0"/>
              <a:t>An API key is required for remote access to the model.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smtClean="0"/>
              <a:t>Fine-Tune the Pre-Trained Language Model</a:t>
            </a:r>
          </a:p>
          <a:p>
            <a:pPr lvl="1"/>
            <a:r>
              <a:rPr lang="en-US" altLang="zh-TW" dirty="0" smtClean="0"/>
              <a:t>Pre-trained LM as backbone following by downstream task head/model.</a:t>
            </a:r>
          </a:p>
          <a:p>
            <a:pPr lvl="1"/>
            <a:r>
              <a:rPr lang="en-US" altLang="zh-TW" dirty="0" smtClean="0"/>
              <a:t>Fine-tuning is necessary.</a:t>
            </a:r>
          </a:p>
          <a:p>
            <a:pPr lvl="1"/>
            <a:r>
              <a:rPr lang="en-US" altLang="zh-TW" dirty="0" smtClean="0"/>
              <a:t>No API key required.</a:t>
            </a:r>
          </a:p>
          <a:p>
            <a:pPr lvl="1"/>
            <a:r>
              <a:rPr lang="en-US" altLang="zh-TW" dirty="0" smtClean="0"/>
              <a:t>Runs locally.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260" y="3996905"/>
            <a:ext cx="1245079" cy="124507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782" y="1554761"/>
            <a:ext cx="1311287" cy="90433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207" y="1786147"/>
            <a:ext cx="1824949" cy="67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02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Language Models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998165"/>
              </p:ext>
            </p:extLst>
          </p:nvPr>
        </p:nvGraphicFramePr>
        <p:xfrm>
          <a:off x="1580322" y="1825625"/>
          <a:ext cx="931296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452">
                  <a:extLst>
                    <a:ext uri="{9D8B030D-6E8A-4147-A177-3AD203B41FA5}">
                      <a16:colId xmlns:a16="http://schemas.microsoft.com/office/drawing/2014/main" val="192529291"/>
                    </a:ext>
                  </a:extLst>
                </a:gridCol>
                <a:gridCol w="3389243">
                  <a:extLst>
                    <a:ext uri="{9D8B030D-6E8A-4147-A177-3AD203B41FA5}">
                      <a16:colId xmlns:a16="http://schemas.microsoft.com/office/drawing/2014/main" val="3414310533"/>
                    </a:ext>
                  </a:extLst>
                </a:gridCol>
                <a:gridCol w="3548271">
                  <a:extLst>
                    <a:ext uri="{9D8B030D-6E8A-4147-A177-3AD203B41FA5}">
                      <a16:colId xmlns:a16="http://schemas.microsoft.com/office/drawing/2014/main" val="3423070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Directly</a:t>
                      </a:r>
                      <a:r>
                        <a:rPr lang="en-US" altLang="zh-TW" baseline="0" dirty="0" smtClean="0"/>
                        <a:t> use well-trained </a:t>
                      </a:r>
                    </a:p>
                    <a:p>
                      <a:pPr algn="ctr"/>
                      <a:r>
                        <a:rPr lang="en-US" altLang="zh-TW" baseline="0" dirty="0" smtClean="0"/>
                        <a:t>Language Model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Fine-tune the pre-trained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Language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69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 dirty="0" smtClean="0"/>
                        <a:t>Resources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CPU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GPU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794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API 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Need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No need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628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No</a:t>
                      </a:r>
                      <a:r>
                        <a:rPr lang="en-US" altLang="zh-TW" baseline="0" dirty="0" smtClean="0"/>
                        <a:t> need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Need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365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Fine-tune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No need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Need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535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Model</a:t>
                      </a:r>
                      <a:r>
                        <a:rPr lang="en-US" altLang="zh-TW" baseline="0" dirty="0" smtClean="0"/>
                        <a:t> running 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Remote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Local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359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Feasibility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High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Low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54557"/>
                  </a:ext>
                </a:extLst>
              </a:tr>
            </a:tbl>
          </a:graphicData>
        </a:graphic>
      </p:graphicFrame>
      <p:sp>
        <p:nvSpPr>
          <p:cNvPr id="9" name="內容版面配置區 2"/>
          <p:cNvSpPr txBox="1">
            <a:spLocks/>
          </p:cNvSpPr>
          <p:nvPr/>
        </p:nvSpPr>
        <p:spPr>
          <a:xfrm>
            <a:off x="838200" y="1825624"/>
            <a:ext cx="10515600" cy="4754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Well-Trained Language Models</a:t>
            </a:r>
          </a:p>
          <a:p>
            <a:pPr lvl="1"/>
            <a:r>
              <a:rPr lang="en-US" altLang="zh-TW" dirty="0" smtClean="0"/>
              <a:t>Gemini</a:t>
            </a:r>
          </a:p>
          <a:p>
            <a:pPr lvl="1"/>
            <a:r>
              <a:rPr lang="en-US" altLang="zh-TW" dirty="0" smtClean="0"/>
              <a:t>ChatGPT (</a:t>
            </a:r>
            <a:r>
              <a:rPr lang="en-US" altLang="zh-TW" dirty="0" err="1" smtClean="0"/>
              <a:t>ChatWeb</a:t>
            </a:r>
            <a:r>
              <a:rPr lang="en-US" altLang="zh-TW" dirty="0" smtClean="0"/>
              <a:t>)</a:t>
            </a:r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6417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PDF Parsing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199" y="1825625"/>
            <a:ext cx="11148391" cy="493298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Tools</a:t>
            </a:r>
          </a:p>
          <a:p>
            <a:pPr lvl="1"/>
            <a:r>
              <a:rPr lang="en-US" altLang="zh-TW" dirty="0" err="1" smtClean="0"/>
              <a:t>Langchain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  <a:p>
            <a:pPr lvl="1"/>
            <a:r>
              <a:rPr lang="en-US" altLang="zh-TW" dirty="0" err="1" smtClean="0">
                <a:solidFill>
                  <a:srgbClr val="FF0000"/>
                </a:solidFill>
              </a:rPr>
              <a:t>PyPDFLoader</a:t>
            </a:r>
            <a:r>
              <a:rPr lang="zh-TW" altLang="en-US" dirty="0" smtClean="0"/>
              <a:t> </a:t>
            </a:r>
            <a:r>
              <a:rPr lang="en-US" altLang="zh-TW" dirty="0" smtClean="0"/>
              <a:t>from </a:t>
            </a:r>
            <a:r>
              <a:rPr lang="en-US" altLang="zh-TW" dirty="0" err="1" smtClean="0"/>
              <a:t>langchain_community.document_loaders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Extract the text, transform the PDF file into string.</a:t>
            </a:r>
            <a:br>
              <a:rPr lang="en-US" altLang="zh-TW" dirty="0" smtClean="0"/>
            </a:br>
            <a:endParaRPr lang="en-US" altLang="zh-TW" dirty="0" smtClean="0"/>
          </a:p>
          <a:p>
            <a:pPr lvl="1"/>
            <a:r>
              <a:rPr lang="en-US" altLang="zh-TW" dirty="0" err="1" smtClean="0">
                <a:solidFill>
                  <a:srgbClr val="FF0000"/>
                </a:solidFill>
              </a:rPr>
              <a:t>HuggingFaceEmbeddings</a:t>
            </a:r>
            <a:r>
              <a:rPr lang="zh-TW" altLang="en-US" dirty="0"/>
              <a:t> </a:t>
            </a:r>
            <a:r>
              <a:rPr lang="en-US" altLang="zh-TW" dirty="0" smtClean="0"/>
              <a:t>from </a:t>
            </a:r>
            <a:r>
              <a:rPr lang="en-US" altLang="zh-TW" dirty="0" err="1" smtClean="0"/>
              <a:t>langchain_huggingface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Include the embedding model to tokenize string into vectors.</a:t>
            </a:r>
            <a:br>
              <a:rPr lang="en-US" altLang="zh-TW" dirty="0" smtClean="0"/>
            </a:b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FAISS</a:t>
            </a:r>
            <a:r>
              <a:rPr lang="zh-TW" altLang="en-US" dirty="0" smtClean="0"/>
              <a:t> </a:t>
            </a:r>
            <a:r>
              <a:rPr lang="en-US" altLang="zh-TW" dirty="0" smtClean="0"/>
              <a:t>from </a:t>
            </a:r>
            <a:r>
              <a:rPr lang="en-US" altLang="zh-TW" dirty="0" err="1" smtClean="0"/>
              <a:t>langchain_community.vectorstores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Do the similarity search between PDF file and User Query.</a:t>
            </a:r>
          </a:p>
          <a:p>
            <a:pPr marL="457200" lvl="1" indent="0">
              <a:buNone/>
            </a:pPr>
            <a:endParaRPr lang="en-US" altLang="zh-TW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279" y="54347"/>
            <a:ext cx="4031319" cy="218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41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PDF Parsing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199" y="1825625"/>
            <a:ext cx="11148391" cy="493298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Tools</a:t>
            </a:r>
          </a:p>
          <a:p>
            <a:pPr lvl="1"/>
            <a:r>
              <a:rPr lang="en-US" altLang="zh-TW" dirty="0" smtClean="0"/>
              <a:t>Similarity Search can be substituted with a more straightforward method.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err="1" smtClean="0"/>
              <a:t>pdfplumber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Extract the text and table, transform the PDF file into string.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Pandas</a:t>
            </a:r>
          </a:p>
          <a:p>
            <a:pPr lvl="2"/>
            <a:r>
              <a:rPr lang="en-US" altLang="zh-TW" dirty="0" smtClean="0"/>
              <a:t>Handle the table.</a:t>
            </a:r>
            <a:endParaRPr lang="en-US" altLang="zh-TW" dirty="0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279" y="54347"/>
            <a:ext cx="4031319" cy="218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9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PDF Parsing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Problems</a:t>
            </a:r>
          </a:p>
          <a:p>
            <a:pPr lvl="1"/>
            <a:r>
              <a:rPr lang="en-US" altLang="zh-TW" dirty="0"/>
              <a:t>The size of standard is large, so it is necessary </a:t>
            </a:r>
            <a:r>
              <a:rPr lang="en-US" altLang="zh-TW" dirty="0" smtClean="0"/>
              <a:t>for a person to select the required chapters.</a:t>
            </a:r>
            <a:br>
              <a:rPr lang="en-US" altLang="zh-TW" dirty="0" smtClean="0"/>
            </a:br>
            <a:endParaRPr lang="en-US" altLang="zh-TW" dirty="0"/>
          </a:p>
          <a:p>
            <a:pPr lvl="1"/>
            <a:r>
              <a:rPr lang="en-US" altLang="zh-TW" dirty="0"/>
              <a:t>Each standard or chapter has its own unique structure, which means that the same parsing method may yield different results.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1060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Methods – End-to-End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Prompt</a:t>
            </a:r>
          </a:p>
          <a:p>
            <a:pPr lvl="1"/>
            <a:r>
              <a:rPr lang="en-US" altLang="zh-TW" dirty="0" smtClean="0"/>
              <a:t>PDF Content</a:t>
            </a:r>
          </a:p>
          <a:p>
            <a:pPr lvl="1"/>
            <a:r>
              <a:rPr lang="en-US" altLang="zh-TW" dirty="0" smtClean="0"/>
              <a:t>User Query</a:t>
            </a:r>
          </a:p>
          <a:p>
            <a:pPr lvl="1"/>
            <a:endParaRPr lang="en-US" altLang="zh-TW" dirty="0"/>
          </a:p>
          <a:p>
            <a:r>
              <a:rPr lang="en-US" altLang="zh-TW" dirty="0" smtClean="0"/>
              <a:t>Problems</a:t>
            </a:r>
          </a:p>
          <a:p>
            <a:pPr lvl="1"/>
            <a:r>
              <a:rPr lang="en-US" altLang="zh-TW" dirty="0" smtClean="0"/>
              <a:t>The result is not solely the packet but also contains additional descriptions.</a:t>
            </a:r>
          </a:p>
          <a:p>
            <a:pPr lvl="1"/>
            <a:r>
              <a:rPr lang="en-US" altLang="zh-TW" dirty="0" smtClean="0"/>
              <a:t>It is challenging to find a general method to parse the necessary parts.</a:t>
            </a:r>
          </a:p>
          <a:p>
            <a:pPr lvl="1"/>
            <a:r>
              <a:rPr lang="en-US" altLang="zh-TW" dirty="0" smtClean="0"/>
              <a:t>There is no guarantee of the correctness of the result.</a:t>
            </a:r>
          </a:p>
          <a:p>
            <a:pPr lvl="1"/>
            <a:r>
              <a:rPr lang="en-US" altLang="zh-TW" dirty="0" smtClean="0"/>
              <a:t>It is difficult to generate packets according to </a:t>
            </a:r>
            <a:r>
              <a:rPr lang="en-US" altLang="zh-TW" smtClean="0"/>
              <a:t>user-defined arguments.</a:t>
            </a:r>
            <a:endParaRPr lang="en-US" altLang="zh-TW" dirty="0" smtClean="0"/>
          </a:p>
          <a:p>
            <a:pPr lvl="1"/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027" y="80434"/>
            <a:ext cx="3248577" cy="349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8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Methods - Staged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Workflow</a:t>
            </a:r>
          </a:p>
          <a:p>
            <a:pPr lvl="2"/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007" y="365125"/>
            <a:ext cx="3263453" cy="634736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713" y="2356495"/>
            <a:ext cx="3248577" cy="3490381"/>
          </a:xfrm>
          <a:prstGeom prst="rect">
            <a:avLst/>
          </a:prstGeom>
        </p:spPr>
      </p:pic>
      <p:sp>
        <p:nvSpPr>
          <p:cNvPr id="6" name="向左箭號 5"/>
          <p:cNvSpPr/>
          <p:nvPr/>
        </p:nvSpPr>
        <p:spPr>
          <a:xfrm>
            <a:off x="8815823" y="2592825"/>
            <a:ext cx="1381539" cy="30811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左箭號 6"/>
          <p:cNvSpPr/>
          <p:nvPr/>
        </p:nvSpPr>
        <p:spPr>
          <a:xfrm>
            <a:off x="8815822" y="4643007"/>
            <a:ext cx="1381539" cy="30811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左箭號 7"/>
          <p:cNvSpPr/>
          <p:nvPr/>
        </p:nvSpPr>
        <p:spPr>
          <a:xfrm>
            <a:off x="8815823" y="5692819"/>
            <a:ext cx="1381539" cy="30811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671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Methods - Staged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Make the Language Model generate two C Codes.</a:t>
            </a:r>
          </a:p>
          <a:p>
            <a:pPr lvl="1"/>
            <a:r>
              <a:rPr lang="en-US" altLang="zh-TW" dirty="0" smtClean="0"/>
              <a:t>Header Generator</a:t>
            </a:r>
          </a:p>
          <a:p>
            <a:pPr lvl="2"/>
            <a:r>
              <a:rPr lang="en-US" altLang="zh-TW" dirty="0" smtClean="0"/>
              <a:t>LM needs to know the packet composition.</a:t>
            </a:r>
          </a:p>
          <a:p>
            <a:pPr lvl="2"/>
            <a:r>
              <a:rPr lang="en-US" altLang="zh-TW" dirty="0" smtClean="0"/>
              <a:t>LM needs to specify which fields is fixed or can be user-defined.</a:t>
            </a:r>
          </a:p>
          <a:p>
            <a:pPr lvl="1"/>
            <a:endParaRPr lang="en-US" altLang="zh-TW" dirty="0" smtClean="0"/>
          </a:p>
          <a:p>
            <a:pPr marL="914400" lvl="2" indent="0">
              <a:buNone/>
            </a:pP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711" y="166342"/>
            <a:ext cx="3313150" cy="6444024"/>
          </a:xfrm>
          <a:prstGeom prst="rect">
            <a:avLst/>
          </a:prstGeom>
        </p:spPr>
      </p:pic>
      <p:pic>
        <p:nvPicPr>
          <p:cNvPr id="9" name="圖片 8"/>
          <p:cNvPicPr/>
          <p:nvPr/>
        </p:nvPicPr>
        <p:blipFill>
          <a:blip r:embed="rId4"/>
          <a:stretch>
            <a:fillRect/>
          </a:stretch>
        </p:blipFill>
        <p:spPr>
          <a:xfrm>
            <a:off x="86139" y="3388354"/>
            <a:ext cx="9962636" cy="509878"/>
          </a:xfrm>
          <a:prstGeom prst="rect">
            <a:avLst/>
          </a:prstGeom>
        </p:spPr>
      </p:pic>
      <p:pic>
        <p:nvPicPr>
          <p:cNvPr id="10" name="圖片 9"/>
          <p:cNvPicPr/>
          <p:nvPr/>
        </p:nvPicPr>
        <p:blipFill>
          <a:blip r:embed="rId5"/>
          <a:stretch>
            <a:fillRect/>
          </a:stretch>
        </p:blipFill>
        <p:spPr>
          <a:xfrm>
            <a:off x="86139" y="4492407"/>
            <a:ext cx="9962636" cy="86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2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Methods - Staged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Make the Language Model generate two C Codes.</a:t>
            </a:r>
          </a:p>
          <a:p>
            <a:pPr lvl="1"/>
            <a:r>
              <a:rPr lang="en-US" altLang="zh-TW" dirty="0" smtClean="0"/>
              <a:t>Payload Generator</a:t>
            </a:r>
          </a:p>
          <a:p>
            <a:pPr lvl="2"/>
            <a:r>
              <a:rPr lang="en-US" altLang="zh-TW" dirty="0" smtClean="0"/>
              <a:t>LM needs to know how to parse the given header.</a:t>
            </a:r>
          </a:p>
          <a:p>
            <a:pPr lvl="2"/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711" y="166342"/>
            <a:ext cx="3313150" cy="644402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9" y="4406601"/>
            <a:ext cx="7828186" cy="68312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9" y="3814566"/>
            <a:ext cx="9914021" cy="33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7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Generated C Code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Header Generator</a:t>
            </a:r>
          </a:p>
          <a:p>
            <a:pPr lvl="1"/>
            <a:r>
              <a:rPr lang="en-US" altLang="zh-TW" dirty="0" smtClean="0"/>
              <a:t>MSA Packet</a:t>
            </a:r>
          </a:p>
          <a:p>
            <a:pPr lvl="1"/>
            <a:r>
              <a:rPr lang="en-US" altLang="zh-TW" dirty="0"/>
              <a:t>S</a:t>
            </a:r>
            <a:r>
              <a:rPr lang="en-US" altLang="zh-TW" dirty="0" smtClean="0"/>
              <a:t>D Packet</a:t>
            </a:r>
          </a:p>
          <a:p>
            <a:endParaRPr lang="en-US" altLang="zh-TW" dirty="0"/>
          </a:p>
          <a:p>
            <a:r>
              <a:rPr lang="en-US" altLang="zh-TW" dirty="0" smtClean="0"/>
              <a:t>Payload Generator</a:t>
            </a:r>
          </a:p>
          <a:p>
            <a:pPr lvl="1"/>
            <a:r>
              <a:rPr lang="en-US" altLang="zh-TW" dirty="0" smtClean="0"/>
              <a:t>BS Packet</a:t>
            </a:r>
          </a:p>
          <a:p>
            <a:pPr lvl="1"/>
            <a:r>
              <a:rPr lang="en-US" altLang="zh-TW" dirty="0" smtClean="0"/>
              <a:t>VD Packet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4230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559" y="157035"/>
            <a:ext cx="3693276" cy="663768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005" y="157035"/>
            <a:ext cx="5291281" cy="663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98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98" y="158632"/>
            <a:ext cx="5049755" cy="665491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270" y="44878"/>
            <a:ext cx="6610032" cy="67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14" y="156956"/>
            <a:ext cx="6052516" cy="657682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070" y="156956"/>
            <a:ext cx="5572539" cy="666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2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5786"/>
            <a:ext cx="5673794" cy="585548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720" y="224568"/>
            <a:ext cx="6534280" cy="623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9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Methods - Staged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Human Check</a:t>
            </a:r>
          </a:p>
          <a:p>
            <a:pPr lvl="1"/>
            <a:r>
              <a:rPr lang="en-US" altLang="zh-TW" dirty="0" smtClean="0"/>
              <a:t>If there are errors in the generated code</a:t>
            </a:r>
          </a:p>
          <a:p>
            <a:pPr lvl="2"/>
            <a:r>
              <a:rPr lang="en-US" altLang="zh-TW" dirty="0"/>
              <a:t>e.g. Big/Little Endian, Wrong bit position, complex calculate, etc</a:t>
            </a:r>
            <a:r>
              <a:rPr lang="en-US" altLang="zh-TW" dirty="0" smtClean="0"/>
              <a:t>.</a:t>
            </a:r>
            <a:br>
              <a:rPr lang="en-US" altLang="zh-TW" dirty="0" smtClean="0"/>
            </a:br>
            <a:endParaRPr lang="en-US" altLang="zh-TW" dirty="0" smtClean="0"/>
          </a:p>
          <a:p>
            <a:pPr lvl="2"/>
            <a:r>
              <a:rPr lang="en-US" altLang="zh-TW" dirty="0" smtClean="0"/>
              <a:t>Modify the User Query</a:t>
            </a:r>
          </a:p>
          <a:p>
            <a:pPr lvl="2"/>
            <a:r>
              <a:rPr lang="en-US" altLang="zh-TW" dirty="0" smtClean="0"/>
              <a:t>Add additional information provided to the Language Model</a:t>
            </a:r>
          </a:p>
          <a:p>
            <a:pPr lvl="2"/>
            <a:r>
              <a:rPr lang="en-US" altLang="zh-TW" dirty="0"/>
              <a:t>Debug the generated </a:t>
            </a:r>
            <a:r>
              <a:rPr lang="en-US" altLang="zh-TW" dirty="0" smtClean="0"/>
              <a:t>code</a:t>
            </a:r>
            <a:br>
              <a:rPr lang="en-US" altLang="zh-TW" dirty="0" smtClean="0"/>
            </a:br>
            <a:endParaRPr lang="en-US" altLang="zh-TW" dirty="0" smtClean="0"/>
          </a:p>
          <a:p>
            <a:pPr lvl="1"/>
            <a:r>
              <a:rPr lang="en-US" altLang="zh-TW" dirty="0" smtClean="0"/>
              <a:t>Trade-off</a:t>
            </a:r>
          </a:p>
          <a:p>
            <a:pPr lvl="2"/>
            <a:r>
              <a:rPr lang="en-US" altLang="zh-TW" dirty="0" smtClean="0"/>
              <a:t>Consider the balance between performance and the amount of information provided.</a:t>
            </a:r>
          </a:p>
        </p:txBody>
      </p:sp>
    </p:spTree>
    <p:extLst>
      <p:ext uri="{BB962C8B-B14F-4D97-AF65-F5344CB8AC3E}">
        <p14:creationId xmlns:p14="http://schemas.microsoft.com/office/powerpoint/2010/main" val="342044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569</Words>
  <Application>Microsoft Office PowerPoint</Application>
  <PresentationFormat>寬螢幕</PresentationFormat>
  <Paragraphs>136</Paragraphs>
  <Slides>18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Office 佈景主題</vt:lpstr>
      <vt:lpstr>AI Model</vt:lpstr>
      <vt:lpstr>Outline</vt:lpstr>
      <vt:lpstr>Language Models</vt:lpstr>
      <vt:lpstr>Language Models</vt:lpstr>
      <vt:lpstr>Language Models</vt:lpstr>
      <vt:lpstr>PDF Parsing</vt:lpstr>
      <vt:lpstr>PDF Parsing</vt:lpstr>
      <vt:lpstr>PDF Parsing</vt:lpstr>
      <vt:lpstr>Methods – End-to-End</vt:lpstr>
      <vt:lpstr>Methods - Staged</vt:lpstr>
      <vt:lpstr>Methods - Staged</vt:lpstr>
      <vt:lpstr>Methods - Staged</vt:lpstr>
      <vt:lpstr>Generated C Code</vt:lpstr>
      <vt:lpstr>PowerPoint 簡報</vt:lpstr>
      <vt:lpstr>PowerPoint 簡報</vt:lpstr>
      <vt:lpstr>PowerPoint 簡報</vt:lpstr>
      <vt:lpstr>PowerPoint 簡報</vt:lpstr>
      <vt:lpstr>Methods - Staged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creator>Jeffery Lai</dc:creator>
  <cp:lastModifiedBy>Jeffery Lai</cp:lastModifiedBy>
  <cp:revision>47</cp:revision>
  <dcterms:created xsi:type="dcterms:W3CDTF">2024-08-02T05:10:42Z</dcterms:created>
  <dcterms:modified xsi:type="dcterms:W3CDTF">2024-08-07T06:46:19Z</dcterms:modified>
</cp:coreProperties>
</file>